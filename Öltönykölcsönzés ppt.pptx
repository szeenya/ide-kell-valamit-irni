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0F407C-D488-44BF-ABB8-25B1351C7ABD}" type="doc">
      <dgm:prSet loTypeId="urn:microsoft.com/office/officeart/2005/8/layout/hierarchy1" loCatId="hierarchy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3D03E12-81DA-44E5-B1E1-B97F3BEC2166}">
      <dgm:prSet/>
      <dgm:spPr/>
      <dgm:t>
        <a:bodyPr/>
        <a:lstStyle/>
        <a:p>
          <a:pPr algn="ctr"/>
          <a:r>
            <a:rPr lang="hu-HU" u="sng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Az adatbázis: </a:t>
          </a:r>
          <a:r>
            <a:rPr lang="hu-HU" dirty="0" err="1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MySQL</a:t>
          </a:r>
          <a:r>
            <a:rPr lang="hu-HU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, </a:t>
          </a:r>
          <a:r>
            <a:rPr lang="hu-HU" dirty="0" err="1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phpMyAdmin</a:t>
          </a:r>
          <a:endParaRPr lang="en-US" dirty="0">
            <a:solidFill>
              <a:schemeClr val="accent5">
                <a:lumMod val="50000"/>
              </a:schemeClr>
            </a:solidFill>
            <a:latin typeface="Arial Nova Light" panose="020B0304020202020204" pitchFamily="34" charset="0"/>
          </a:endParaRPr>
        </a:p>
      </dgm:t>
    </dgm:pt>
    <dgm:pt modelId="{F5EEAD34-CDAE-4EE2-BD80-26C7CEAE554C}" type="parTrans" cxnId="{9067F7C1-2819-407A-8344-BE40393A0578}">
      <dgm:prSet/>
      <dgm:spPr/>
      <dgm:t>
        <a:bodyPr/>
        <a:lstStyle/>
        <a:p>
          <a:endParaRPr lang="en-US"/>
        </a:p>
      </dgm:t>
    </dgm:pt>
    <dgm:pt modelId="{21BCADFE-6D14-4991-838D-EFCD59D52CFB}" type="sibTrans" cxnId="{9067F7C1-2819-407A-8344-BE40393A0578}">
      <dgm:prSet/>
      <dgm:spPr/>
      <dgm:t>
        <a:bodyPr/>
        <a:lstStyle/>
        <a:p>
          <a:endParaRPr lang="en-US"/>
        </a:p>
      </dgm:t>
    </dgm:pt>
    <dgm:pt modelId="{6DCFD50B-72B6-4D37-919E-444331089413}">
      <dgm:prSet/>
      <dgm:spPr/>
      <dgm:t>
        <a:bodyPr/>
        <a:lstStyle/>
        <a:p>
          <a:r>
            <a:rPr lang="hu-HU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Google, tanárok illetve MI segítsége</a:t>
          </a:r>
          <a:endParaRPr lang="en-US" dirty="0">
            <a:solidFill>
              <a:schemeClr val="accent5">
                <a:lumMod val="50000"/>
              </a:schemeClr>
            </a:solidFill>
            <a:latin typeface="Arial Nova Light" panose="020B0304020202020204" pitchFamily="34" charset="0"/>
          </a:endParaRPr>
        </a:p>
      </dgm:t>
    </dgm:pt>
    <dgm:pt modelId="{9440565F-D0C8-474B-BD11-971872F4BD0B}" type="parTrans" cxnId="{BBAAE421-6BB3-431C-A08E-869D37EDA364}">
      <dgm:prSet/>
      <dgm:spPr/>
      <dgm:t>
        <a:bodyPr/>
        <a:lstStyle/>
        <a:p>
          <a:endParaRPr lang="en-US"/>
        </a:p>
      </dgm:t>
    </dgm:pt>
    <dgm:pt modelId="{7519584D-0209-472E-BFF6-B108516EFDDB}" type="sibTrans" cxnId="{BBAAE421-6BB3-431C-A08E-869D37EDA364}">
      <dgm:prSet/>
      <dgm:spPr/>
      <dgm:t>
        <a:bodyPr/>
        <a:lstStyle/>
        <a:p>
          <a:endParaRPr lang="en-US"/>
        </a:p>
      </dgm:t>
    </dgm:pt>
    <dgm:pt modelId="{A905A824-3ACE-4EC8-9A14-015112ED44C4}">
      <dgm:prSet/>
      <dgm:spPr/>
      <dgm:t>
        <a:bodyPr/>
        <a:lstStyle/>
        <a:p>
          <a:r>
            <a:rPr lang="hu-HU" dirty="0" err="1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Discordon</a:t>
          </a:r>
          <a:r>
            <a:rPr lang="hu-HU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 történt a verziófejlesztés</a:t>
          </a:r>
          <a:endParaRPr lang="en-US" dirty="0">
            <a:solidFill>
              <a:schemeClr val="accent5">
                <a:lumMod val="50000"/>
              </a:schemeClr>
            </a:solidFill>
            <a:latin typeface="Arial Nova Light" panose="020B0304020202020204" pitchFamily="34" charset="0"/>
          </a:endParaRPr>
        </a:p>
      </dgm:t>
    </dgm:pt>
    <dgm:pt modelId="{085730D7-A4F0-4F75-8A75-061E02827B87}" type="parTrans" cxnId="{E8B5632F-B48B-4B82-92A8-EF25027DD675}">
      <dgm:prSet/>
      <dgm:spPr/>
      <dgm:t>
        <a:bodyPr/>
        <a:lstStyle/>
        <a:p>
          <a:endParaRPr lang="en-US"/>
        </a:p>
      </dgm:t>
    </dgm:pt>
    <dgm:pt modelId="{29B539B2-F8A1-471F-A9F5-0F9B7F01FE43}" type="sibTrans" cxnId="{E8B5632F-B48B-4B82-92A8-EF25027DD675}">
      <dgm:prSet/>
      <dgm:spPr/>
      <dgm:t>
        <a:bodyPr/>
        <a:lstStyle/>
        <a:p>
          <a:endParaRPr lang="en-US"/>
        </a:p>
      </dgm:t>
    </dgm:pt>
    <dgm:pt modelId="{D2B8EC99-250C-4E05-8D77-DC4DBE04B5B3}" type="pres">
      <dgm:prSet presAssocID="{0C0F407C-D488-44BF-ABB8-25B1351C7A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7C97AFB-F45D-4EA6-8611-493067CF92A9}" type="pres">
      <dgm:prSet presAssocID="{43D03E12-81DA-44E5-B1E1-B97F3BEC2166}" presName="hierRoot1" presStyleCnt="0"/>
      <dgm:spPr/>
    </dgm:pt>
    <dgm:pt modelId="{C1837163-A38D-4F94-B282-99CDFAF8C12A}" type="pres">
      <dgm:prSet presAssocID="{43D03E12-81DA-44E5-B1E1-B97F3BEC2166}" presName="composite" presStyleCnt="0"/>
      <dgm:spPr/>
    </dgm:pt>
    <dgm:pt modelId="{3135B610-EF6F-49AE-92E2-FF34CB015AEA}" type="pres">
      <dgm:prSet presAssocID="{43D03E12-81DA-44E5-B1E1-B97F3BEC2166}" presName="background" presStyleLbl="node0" presStyleIdx="0" presStyleCnt="3"/>
      <dgm:spPr/>
    </dgm:pt>
    <dgm:pt modelId="{13F74D47-01D8-4147-84A1-3A6FCF051707}" type="pres">
      <dgm:prSet presAssocID="{43D03E12-81DA-44E5-B1E1-B97F3BEC2166}" presName="text" presStyleLbl="fgAcc0" presStyleIdx="0" presStyleCnt="3" custScaleX="113925" custScaleY="126938" custLinFactNeighborX="-11961" custLinFactNeighborY="-86486">
        <dgm:presLayoutVars>
          <dgm:chPref val="3"/>
        </dgm:presLayoutVars>
      </dgm:prSet>
      <dgm:spPr/>
    </dgm:pt>
    <dgm:pt modelId="{364E3453-F8A9-413F-829A-754DA5055488}" type="pres">
      <dgm:prSet presAssocID="{43D03E12-81DA-44E5-B1E1-B97F3BEC2166}" presName="hierChild2" presStyleCnt="0"/>
      <dgm:spPr/>
    </dgm:pt>
    <dgm:pt modelId="{CF54DEB7-52E2-46CB-B96B-2838A641BA2E}" type="pres">
      <dgm:prSet presAssocID="{6DCFD50B-72B6-4D37-919E-444331089413}" presName="hierRoot1" presStyleCnt="0"/>
      <dgm:spPr/>
    </dgm:pt>
    <dgm:pt modelId="{2B448D51-6D92-47BA-86D6-4D2CC2E84CB9}" type="pres">
      <dgm:prSet presAssocID="{6DCFD50B-72B6-4D37-919E-444331089413}" presName="composite" presStyleCnt="0"/>
      <dgm:spPr/>
    </dgm:pt>
    <dgm:pt modelId="{05D8D063-8EA2-4F3E-900B-2EE11718D1D0}" type="pres">
      <dgm:prSet presAssocID="{6DCFD50B-72B6-4D37-919E-444331089413}" presName="background" presStyleLbl="node0" presStyleIdx="1" presStyleCnt="3"/>
      <dgm:spPr/>
    </dgm:pt>
    <dgm:pt modelId="{65DE0544-78D6-40C5-8EE4-E1A751C58020}" type="pres">
      <dgm:prSet presAssocID="{6DCFD50B-72B6-4D37-919E-444331089413}" presName="text" presStyleLbl="fgAcc0" presStyleIdx="1" presStyleCnt="3" custScaleX="119665" custScaleY="132079" custLinFactNeighborX="-4362" custLinFactNeighborY="15444">
        <dgm:presLayoutVars>
          <dgm:chPref val="3"/>
        </dgm:presLayoutVars>
      </dgm:prSet>
      <dgm:spPr/>
    </dgm:pt>
    <dgm:pt modelId="{21D9B56D-3A11-4CE8-BF3A-C516D0821DFD}" type="pres">
      <dgm:prSet presAssocID="{6DCFD50B-72B6-4D37-919E-444331089413}" presName="hierChild2" presStyleCnt="0"/>
      <dgm:spPr/>
    </dgm:pt>
    <dgm:pt modelId="{959CBBF6-9EAA-4F13-A513-15D4E98391BD}" type="pres">
      <dgm:prSet presAssocID="{A905A824-3ACE-4EC8-9A14-015112ED44C4}" presName="hierRoot1" presStyleCnt="0"/>
      <dgm:spPr/>
    </dgm:pt>
    <dgm:pt modelId="{4285CEE3-C5A6-41B6-9AA1-204A0BB8ADBA}" type="pres">
      <dgm:prSet presAssocID="{A905A824-3ACE-4EC8-9A14-015112ED44C4}" presName="composite" presStyleCnt="0"/>
      <dgm:spPr/>
    </dgm:pt>
    <dgm:pt modelId="{8A71B83C-80EE-43F9-969E-92069ABB39AA}" type="pres">
      <dgm:prSet presAssocID="{A905A824-3ACE-4EC8-9A14-015112ED44C4}" presName="background" presStyleLbl="node0" presStyleIdx="2" presStyleCnt="3"/>
      <dgm:spPr/>
    </dgm:pt>
    <dgm:pt modelId="{3F17F853-67FA-4F36-9263-1B95D51FE9D5}" type="pres">
      <dgm:prSet presAssocID="{A905A824-3ACE-4EC8-9A14-015112ED44C4}" presName="text" presStyleLbl="fgAcc0" presStyleIdx="2" presStyleCnt="3" custScaleX="114925" custScaleY="130697" custLinFactY="42630" custLinFactNeighborX="2867" custLinFactNeighborY="100000">
        <dgm:presLayoutVars>
          <dgm:chPref val="3"/>
        </dgm:presLayoutVars>
      </dgm:prSet>
      <dgm:spPr/>
    </dgm:pt>
    <dgm:pt modelId="{B2FC128E-DAB7-4792-BE6E-1E57565806EB}" type="pres">
      <dgm:prSet presAssocID="{A905A824-3ACE-4EC8-9A14-015112ED44C4}" presName="hierChild2" presStyleCnt="0"/>
      <dgm:spPr/>
    </dgm:pt>
  </dgm:ptLst>
  <dgm:cxnLst>
    <dgm:cxn modelId="{BBAAE421-6BB3-431C-A08E-869D37EDA364}" srcId="{0C0F407C-D488-44BF-ABB8-25B1351C7ABD}" destId="{6DCFD50B-72B6-4D37-919E-444331089413}" srcOrd="1" destOrd="0" parTransId="{9440565F-D0C8-474B-BD11-971872F4BD0B}" sibTransId="{7519584D-0209-472E-BFF6-B108516EFDDB}"/>
    <dgm:cxn modelId="{E8B5632F-B48B-4B82-92A8-EF25027DD675}" srcId="{0C0F407C-D488-44BF-ABB8-25B1351C7ABD}" destId="{A905A824-3ACE-4EC8-9A14-015112ED44C4}" srcOrd="2" destOrd="0" parTransId="{085730D7-A4F0-4F75-8A75-061E02827B87}" sibTransId="{29B539B2-F8A1-471F-A9F5-0F9B7F01FE43}"/>
    <dgm:cxn modelId="{5A826388-9E88-41F0-A4D5-ECE747FB2155}" type="presOf" srcId="{6DCFD50B-72B6-4D37-919E-444331089413}" destId="{65DE0544-78D6-40C5-8EE4-E1A751C58020}" srcOrd="0" destOrd="0" presId="urn:microsoft.com/office/officeart/2005/8/layout/hierarchy1"/>
    <dgm:cxn modelId="{D4E73791-3A66-4833-BE26-DC105DB8F703}" type="presOf" srcId="{A905A824-3ACE-4EC8-9A14-015112ED44C4}" destId="{3F17F853-67FA-4F36-9263-1B95D51FE9D5}" srcOrd="0" destOrd="0" presId="urn:microsoft.com/office/officeart/2005/8/layout/hierarchy1"/>
    <dgm:cxn modelId="{AFD61B97-5E82-47FC-AE24-2BEE0D2C76C0}" type="presOf" srcId="{0C0F407C-D488-44BF-ABB8-25B1351C7ABD}" destId="{D2B8EC99-250C-4E05-8D77-DC4DBE04B5B3}" srcOrd="0" destOrd="0" presId="urn:microsoft.com/office/officeart/2005/8/layout/hierarchy1"/>
    <dgm:cxn modelId="{9067F7C1-2819-407A-8344-BE40393A0578}" srcId="{0C0F407C-D488-44BF-ABB8-25B1351C7ABD}" destId="{43D03E12-81DA-44E5-B1E1-B97F3BEC2166}" srcOrd="0" destOrd="0" parTransId="{F5EEAD34-CDAE-4EE2-BD80-26C7CEAE554C}" sibTransId="{21BCADFE-6D14-4991-838D-EFCD59D52CFB}"/>
    <dgm:cxn modelId="{F72CB3D0-E0CE-4B87-A393-1E6081E2ED0C}" type="presOf" srcId="{43D03E12-81DA-44E5-B1E1-B97F3BEC2166}" destId="{13F74D47-01D8-4147-84A1-3A6FCF051707}" srcOrd="0" destOrd="0" presId="urn:microsoft.com/office/officeart/2005/8/layout/hierarchy1"/>
    <dgm:cxn modelId="{9312DE64-0D0E-4420-95B3-14A816203CF7}" type="presParOf" srcId="{D2B8EC99-250C-4E05-8D77-DC4DBE04B5B3}" destId="{27C97AFB-F45D-4EA6-8611-493067CF92A9}" srcOrd="0" destOrd="0" presId="urn:microsoft.com/office/officeart/2005/8/layout/hierarchy1"/>
    <dgm:cxn modelId="{AFA03F07-566B-4F0D-B305-A8017D3CDB59}" type="presParOf" srcId="{27C97AFB-F45D-4EA6-8611-493067CF92A9}" destId="{C1837163-A38D-4F94-B282-99CDFAF8C12A}" srcOrd="0" destOrd="0" presId="urn:microsoft.com/office/officeart/2005/8/layout/hierarchy1"/>
    <dgm:cxn modelId="{0FC08115-D7D4-41E5-A143-91895966AC74}" type="presParOf" srcId="{C1837163-A38D-4F94-B282-99CDFAF8C12A}" destId="{3135B610-EF6F-49AE-92E2-FF34CB015AEA}" srcOrd="0" destOrd="0" presId="urn:microsoft.com/office/officeart/2005/8/layout/hierarchy1"/>
    <dgm:cxn modelId="{414CE5B4-D8E7-46D8-AE94-932E1C17E1D0}" type="presParOf" srcId="{C1837163-A38D-4F94-B282-99CDFAF8C12A}" destId="{13F74D47-01D8-4147-84A1-3A6FCF051707}" srcOrd="1" destOrd="0" presId="urn:microsoft.com/office/officeart/2005/8/layout/hierarchy1"/>
    <dgm:cxn modelId="{EBBEB0A4-B040-44F9-B036-9EF06E895A5B}" type="presParOf" srcId="{27C97AFB-F45D-4EA6-8611-493067CF92A9}" destId="{364E3453-F8A9-413F-829A-754DA5055488}" srcOrd="1" destOrd="0" presId="urn:microsoft.com/office/officeart/2005/8/layout/hierarchy1"/>
    <dgm:cxn modelId="{E04775EA-C9C6-4727-9942-F6A070D10FEC}" type="presParOf" srcId="{D2B8EC99-250C-4E05-8D77-DC4DBE04B5B3}" destId="{CF54DEB7-52E2-46CB-B96B-2838A641BA2E}" srcOrd="1" destOrd="0" presId="urn:microsoft.com/office/officeart/2005/8/layout/hierarchy1"/>
    <dgm:cxn modelId="{4F42592D-F80B-41A1-BA78-267E048BEDCF}" type="presParOf" srcId="{CF54DEB7-52E2-46CB-B96B-2838A641BA2E}" destId="{2B448D51-6D92-47BA-86D6-4D2CC2E84CB9}" srcOrd="0" destOrd="0" presId="urn:microsoft.com/office/officeart/2005/8/layout/hierarchy1"/>
    <dgm:cxn modelId="{D8AB4BEA-7225-4C3D-91EA-F62C21ACB48F}" type="presParOf" srcId="{2B448D51-6D92-47BA-86D6-4D2CC2E84CB9}" destId="{05D8D063-8EA2-4F3E-900B-2EE11718D1D0}" srcOrd="0" destOrd="0" presId="urn:microsoft.com/office/officeart/2005/8/layout/hierarchy1"/>
    <dgm:cxn modelId="{BF925DF0-E390-48D7-8634-ED61096AA241}" type="presParOf" srcId="{2B448D51-6D92-47BA-86D6-4D2CC2E84CB9}" destId="{65DE0544-78D6-40C5-8EE4-E1A751C58020}" srcOrd="1" destOrd="0" presId="urn:microsoft.com/office/officeart/2005/8/layout/hierarchy1"/>
    <dgm:cxn modelId="{C61C2BCB-2435-418A-B4A6-B44223B3B6D1}" type="presParOf" srcId="{CF54DEB7-52E2-46CB-B96B-2838A641BA2E}" destId="{21D9B56D-3A11-4CE8-BF3A-C516D0821DFD}" srcOrd="1" destOrd="0" presId="urn:microsoft.com/office/officeart/2005/8/layout/hierarchy1"/>
    <dgm:cxn modelId="{C05C3CD7-3245-4514-8B8B-A90C85C6F6E4}" type="presParOf" srcId="{D2B8EC99-250C-4E05-8D77-DC4DBE04B5B3}" destId="{959CBBF6-9EAA-4F13-A513-15D4E98391BD}" srcOrd="2" destOrd="0" presId="urn:microsoft.com/office/officeart/2005/8/layout/hierarchy1"/>
    <dgm:cxn modelId="{D337DEB5-30E3-4007-8623-4ACA88BF360C}" type="presParOf" srcId="{959CBBF6-9EAA-4F13-A513-15D4E98391BD}" destId="{4285CEE3-C5A6-41B6-9AA1-204A0BB8ADBA}" srcOrd="0" destOrd="0" presId="urn:microsoft.com/office/officeart/2005/8/layout/hierarchy1"/>
    <dgm:cxn modelId="{211CB6D4-642E-41D8-AED7-0127BDCA07F1}" type="presParOf" srcId="{4285CEE3-C5A6-41B6-9AA1-204A0BB8ADBA}" destId="{8A71B83C-80EE-43F9-969E-92069ABB39AA}" srcOrd="0" destOrd="0" presId="urn:microsoft.com/office/officeart/2005/8/layout/hierarchy1"/>
    <dgm:cxn modelId="{42980577-4956-41BF-B7FF-2A80D3EBD5F7}" type="presParOf" srcId="{4285CEE3-C5A6-41B6-9AA1-204A0BB8ADBA}" destId="{3F17F853-67FA-4F36-9263-1B95D51FE9D5}" srcOrd="1" destOrd="0" presId="urn:microsoft.com/office/officeart/2005/8/layout/hierarchy1"/>
    <dgm:cxn modelId="{F9FBF992-683E-4FF3-933A-31F27C933D6D}" type="presParOf" srcId="{959CBBF6-9EAA-4F13-A513-15D4E98391BD}" destId="{B2FC128E-DAB7-4792-BE6E-1E57565806E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5B610-EF6F-49AE-92E2-FF34CB015AEA}">
      <dsp:nvSpPr>
        <dsp:cNvPr id="0" name=""/>
        <dsp:cNvSpPr/>
      </dsp:nvSpPr>
      <dsp:spPr>
        <a:xfrm>
          <a:off x="-226233" y="183479"/>
          <a:ext cx="2319629" cy="1641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F74D47-01D8-4147-84A1-3A6FCF051707}">
      <dsp:nvSpPr>
        <dsp:cNvPr id="0" name=""/>
        <dsp:cNvSpPr/>
      </dsp:nvSpPr>
      <dsp:spPr>
        <a:xfrm>
          <a:off x="0" y="398401"/>
          <a:ext cx="2319629" cy="16412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500" u="sng" kern="1200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Az adatbázis: </a:t>
          </a:r>
          <a:r>
            <a:rPr lang="hu-HU" sz="2500" kern="1200" dirty="0" err="1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MySQL</a:t>
          </a:r>
          <a:r>
            <a:rPr lang="hu-HU" sz="2500" kern="1200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, </a:t>
          </a:r>
          <a:r>
            <a:rPr lang="hu-HU" sz="2500" kern="1200" dirty="0" err="1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phpMyAdmin</a:t>
          </a:r>
          <a:endParaRPr lang="en-US" sz="2500" kern="1200" dirty="0">
            <a:solidFill>
              <a:schemeClr val="accent5">
                <a:lumMod val="50000"/>
              </a:schemeClr>
            </a:solidFill>
            <a:latin typeface="Arial Nova Light" panose="020B0304020202020204" pitchFamily="34" charset="0"/>
          </a:endParaRPr>
        </a:p>
      </dsp:txBody>
      <dsp:txXfrm>
        <a:off x="48069" y="446470"/>
        <a:ext cx="2223491" cy="1545075"/>
      </dsp:txXfrm>
    </dsp:sp>
    <dsp:sp modelId="{05D8D063-8EA2-4F3E-900B-2EE11718D1D0}">
      <dsp:nvSpPr>
        <dsp:cNvPr id="0" name=""/>
        <dsp:cNvSpPr/>
      </dsp:nvSpPr>
      <dsp:spPr>
        <a:xfrm>
          <a:off x="2684436" y="1501358"/>
          <a:ext cx="2436502" cy="17076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5DE0544-78D6-40C5-8EE4-E1A751C58020}">
      <dsp:nvSpPr>
        <dsp:cNvPr id="0" name=""/>
        <dsp:cNvSpPr/>
      </dsp:nvSpPr>
      <dsp:spPr>
        <a:xfrm>
          <a:off x="2910670" y="1716280"/>
          <a:ext cx="2436502" cy="17076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500" kern="1200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Google, tanárok illetve MI segítsége</a:t>
          </a:r>
          <a:endParaRPr lang="en-US" sz="2500" kern="1200" dirty="0">
            <a:solidFill>
              <a:schemeClr val="accent5">
                <a:lumMod val="50000"/>
              </a:schemeClr>
            </a:solidFill>
            <a:latin typeface="Arial Nova Light" panose="020B0304020202020204" pitchFamily="34" charset="0"/>
          </a:endParaRPr>
        </a:p>
      </dsp:txBody>
      <dsp:txXfrm>
        <a:off x="2960686" y="1766296"/>
        <a:ext cx="2336470" cy="1607650"/>
      </dsp:txXfrm>
    </dsp:sp>
    <dsp:sp modelId="{8A71B83C-80EE-43F9-969E-92069ABB39AA}">
      <dsp:nvSpPr>
        <dsp:cNvPr id="0" name=""/>
        <dsp:cNvSpPr/>
      </dsp:nvSpPr>
      <dsp:spPr>
        <a:xfrm>
          <a:off x="5663375" y="2621226"/>
          <a:ext cx="2339991" cy="16898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17F853-67FA-4F36-9263-1B95D51FE9D5}">
      <dsp:nvSpPr>
        <dsp:cNvPr id="0" name=""/>
        <dsp:cNvSpPr/>
      </dsp:nvSpPr>
      <dsp:spPr>
        <a:xfrm>
          <a:off x="5889608" y="2836148"/>
          <a:ext cx="2339991" cy="16898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500" kern="1200" dirty="0" err="1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Discordon</a:t>
          </a:r>
          <a:r>
            <a:rPr lang="hu-HU" sz="2500" kern="1200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rPr>
            <a:t> történt a verziófejlesztés</a:t>
          </a:r>
          <a:endParaRPr lang="en-US" sz="2500" kern="1200" dirty="0">
            <a:solidFill>
              <a:schemeClr val="accent5">
                <a:lumMod val="50000"/>
              </a:schemeClr>
            </a:solidFill>
            <a:latin typeface="Arial Nova Light" panose="020B0304020202020204" pitchFamily="34" charset="0"/>
          </a:endParaRPr>
        </a:p>
      </dsp:txBody>
      <dsp:txXfrm>
        <a:off x="5939101" y="2885641"/>
        <a:ext cx="2241005" cy="15908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908D4-55A4-4575-A88C-486A52C2DFD9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B36AA-69AC-477E-8B97-6C504136C718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B36AA-69AC-477E-8B97-6C504136C718}" type="slidenum">
              <a:rPr lang="hu-HU" smtClean="0"/>
              <a:pPr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5374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CF9B1-3E16-4A39-98CF-D20E81CC53C0}" type="datetimeFigureOut">
              <a:rPr lang="hu-HU" smtClean="0"/>
              <a:pPr/>
              <a:t>2025. 04. 29.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56E09-0AA2-4652-9E2A-4EFCB07E5A10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39552" y="3284984"/>
            <a:ext cx="7772400" cy="1362075"/>
          </a:xfrm>
        </p:spPr>
        <p:txBody>
          <a:bodyPr anchor="t">
            <a:normAutofit/>
          </a:bodyPr>
          <a:lstStyle/>
          <a:p>
            <a:r>
              <a:rPr lang="hu-HU" sz="6600" dirty="0">
                <a:solidFill>
                  <a:schemeClr val="accent2">
                    <a:lumMod val="20000"/>
                    <a:lumOff val="80000"/>
                  </a:schemeClr>
                </a:solidFill>
                <a:latin typeface="Angsana New" panose="02020603050405020304" pitchFamily="18" charset="-34"/>
                <a:ea typeface="Batang" panose="02030600000101010101" pitchFamily="18" charset="-127"/>
                <a:cs typeface="Angsana New" panose="02020603050405020304" pitchFamily="18" charset="-34"/>
              </a:rPr>
              <a:t>Öltönykölcsönzés:</a:t>
            </a:r>
          </a:p>
        </p:txBody>
      </p:sp>
      <p:sp>
        <p:nvSpPr>
          <p:cNvPr id="3" name="Alcím 2"/>
          <p:cNvSpPr>
            <a:spLocks noGrp="1"/>
          </p:cNvSpPr>
          <p:nvPr>
            <p:ph type="body" idx="1"/>
          </p:nvPr>
        </p:nvSpPr>
        <p:spPr>
          <a:xfrm>
            <a:off x="555758" y="4210527"/>
            <a:ext cx="7772400" cy="420067"/>
          </a:xfrm>
        </p:spPr>
        <p:txBody>
          <a:bodyPr anchor="b">
            <a:normAutofit/>
          </a:bodyPr>
          <a:lstStyle/>
          <a:p>
            <a:r>
              <a:rPr lang="hu-HU" u="sng" dirty="0">
                <a:latin typeface="Avenir Next LT Pro" panose="020B0504020202020204" pitchFamily="34" charset="-18"/>
              </a:rPr>
              <a:t>Csapat:</a:t>
            </a:r>
            <a:r>
              <a:rPr lang="hu-HU" dirty="0">
                <a:latin typeface="Avenir Next LT Pro" panose="020B0504020202020204" pitchFamily="34" charset="-18"/>
              </a:rPr>
              <a:t> Burgstaller György, Csimszi Ádám, Kovács Álmos Levente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39552" y="614826"/>
            <a:ext cx="7772400" cy="1470025"/>
          </a:xfrm>
        </p:spPr>
        <p:txBody>
          <a:bodyPr anchor="ctr">
            <a:noAutofit/>
          </a:bodyPr>
          <a:lstStyle/>
          <a:p>
            <a:r>
              <a:rPr lang="hu-HU" sz="9600" dirty="0">
                <a:latin typeface="Angsana New" panose="02020603050405020304" pitchFamily="18" charset="-34"/>
                <a:cs typeface="Angsana New" panose="02020603050405020304" pitchFamily="18" charset="-34"/>
              </a:rPr>
              <a:t>Bevezetés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type="subTitle" idx="1"/>
          </p:nvPr>
        </p:nvSpPr>
        <p:spPr>
          <a:xfrm>
            <a:off x="685800" y="2119495"/>
            <a:ext cx="7772400" cy="397003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Arial Nova Light" panose="020F0502020204030204" pitchFamily="34" charset="0"/>
              </a:rPr>
              <a:t>Saját szalagavatónk és ballagásunk tapasztalata alapján ismertük fel, hogy a minőségi öltönyök ára (60-70 ezer forint) túl magas egy-két alkalomra. Mivel nem találtunk pénztárcabarát kölcsönzési lehetőséget, elhatároztuk, hogy létrehozunk egy weboldalt az alkalmi öltönykölcsönzés megkönnyítésére.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3528" y="4406904"/>
            <a:ext cx="7772400" cy="1362075"/>
          </a:xfrm>
        </p:spPr>
        <p:txBody>
          <a:bodyPr anchor="t">
            <a:noAutofit/>
          </a:bodyPr>
          <a:lstStyle/>
          <a:p>
            <a:r>
              <a:rPr lang="hu-HU" sz="9600" b="0" cap="none" dirty="0">
                <a:latin typeface="Angsana New" panose="02020603050405020304" pitchFamily="18" charset="-34"/>
                <a:cs typeface="Angsana New" panose="02020603050405020304" pitchFamily="18" charset="-34"/>
              </a:rPr>
              <a:t>Cél</a:t>
            </a:r>
          </a:p>
        </p:txBody>
      </p:sp>
      <p:sp>
        <p:nvSpPr>
          <p:cNvPr id="3" name="Tartalom helye 2"/>
          <p:cNvSpPr>
            <a:spLocks noGrp="1"/>
          </p:cNvSpPr>
          <p:nvPr>
            <p:ph type="body" idx="1"/>
          </p:nvPr>
        </p:nvSpPr>
        <p:spPr>
          <a:xfrm>
            <a:off x="180275" y="2174656"/>
            <a:ext cx="8856475" cy="2232248"/>
          </a:xfrm>
        </p:spPr>
        <p:txBody>
          <a:bodyPr anchor="b">
            <a:normAutofit/>
          </a:bodyPr>
          <a:lstStyle/>
          <a:p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Megfizethető és egyszerű öltönykölcsönzési lehetőséget kínálunk elsősorban diákoknak, de minden férfinak, aki elegáns megjelenést keres. Célunk egy gyors, intuitív és könnyen kezelhető weboldal létrehozása.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Autofit/>
          </a:bodyPr>
          <a:lstStyle/>
          <a:p>
            <a:r>
              <a:rPr lang="hu-HU" sz="9600" dirty="0">
                <a:latin typeface="Angsana New" panose="02020603050405020304" pitchFamily="18" charset="-34"/>
                <a:cs typeface="Angsana New" panose="02020603050405020304" pitchFamily="18" charset="-34"/>
              </a:rPr>
              <a:t>Megvalósítás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17724085-5AB6-369A-6BE8-B5C181C9E9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37861"/>
              </p:ext>
            </p:extLst>
          </p:nvPr>
        </p:nvGraphicFramePr>
        <p:xfrm>
          <a:off x="457200" y="1600204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4869160"/>
            <a:ext cx="7772400" cy="1500187"/>
          </a:xfrm>
        </p:spPr>
        <p:txBody>
          <a:bodyPr anchor="t">
            <a:noAutofit/>
          </a:bodyPr>
          <a:lstStyle/>
          <a:p>
            <a:r>
              <a:rPr lang="hu-HU" b="0" cap="none" dirty="0">
                <a:latin typeface="Sabon Next LT" panose="02000500000000000000" pitchFamily="2" charset="0"/>
                <a:ea typeface="BatangChe" panose="020B0503020000020004" pitchFamily="49" charset="-127"/>
                <a:cs typeface="Sabon Next LT" panose="02000500000000000000" pitchFamily="2" charset="0"/>
              </a:rPr>
              <a:t>Kovács Álmos – Backend fejlesztő</a:t>
            </a:r>
          </a:p>
        </p:txBody>
      </p:sp>
      <p:sp>
        <p:nvSpPr>
          <p:cNvPr id="3" name="Tartalom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/>
          <a:p>
            <a:r>
              <a:rPr lang="hu-HU" sz="32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Adatbázis kialakítása, foglalási rendszer fejlesztése, logikai háttér biztosítása. MVC struktúrában modellek és vezérlők készítése.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16815" y="4725144"/>
            <a:ext cx="7772400" cy="1362075"/>
          </a:xfrm>
        </p:spPr>
        <p:txBody>
          <a:bodyPr anchor="t">
            <a:normAutofit/>
          </a:bodyPr>
          <a:lstStyle/>
          <a:p>
            <a:r>
              <a:rPr lang="hu-HU" b="0" dirty="0">
                <a:latin typeface="Sabon Next LT" panose="02000500000000000000" pitchFamily="2" charset="0"/>
                <a:cs typeface="Sabon Next LT" panose="02000500000000000000" pitchFamily="2" charset="0"/>
              </a:rPr>
              <a:t>Burgstaller György – Frontend fejlesztő </a:t>
            </a:r>
          </a:p>
        </p:txBody>
      </p:sp>
      <p:sp>
        <p:nvSpPr>
          <p:cNvPr id="3" name="Tartalom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/>
          <a:p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Felhasználói felület tervezése, HTML, CSS, JavaScript oldalak készítése, </a:t>
            </a:r>
            <a:r>
              <a:rPr lang="hu-HU" sz="2800" dirty="0" err="1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reszponzivitás</a:t>
            </a: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 és interaktív elemek fejlesztése.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725144"/>
            <a:ext cx="8170167" cy="1362075"/>
          </a:xfrm>
        </p:spPr>
        <p:txBody>
          <a:bodyPr anchor="t">
            <a:normAutofit fontScale="90000"/>
          </a:bodyPr>
          <a:lstStyle/>
          <a:p>
            <a:r>
              <a:rPr lang="hu-HU" sz="3700" b="0" dirty="0">
                <a:latin typeface="Sabon Next LT" panose="02000500000000000000" pitchFamily="2" charset="0"/>
                <a:cs typeface="Sabon Next LT" panose="02000500000000000000" pitchFamily="2" charset="0"/>
              </a:rPr>
              <a:t>Csimszi Ádám – Projektmenedzser és </a:t>
            </a:r>
            <a:r>
              <a:rPr lang="hu-HU" sz="3700" b="0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Fullstack</a:t>
            </a:r>
            <a:r>
              <a:rPr lang="hu-HU" sz="3700" b="0" dirty="0">
                <a:latin typeface="Sabon Next LT" panose="02000500000000000000" pitchFamily="2" charset="0"/>
                <a:cs typeface="Sabon Next LT" panose="02000500000000000000" pitchFamily="2" charset="0"/>
              </a:rPr>
              <a:t> fejlesztő </a:t>
            </a:r>
          </a:p>
        </p:txBody>
      </p:sp>
      <p:sp>
        <p:nvSpPr>
          <p:cNvPr id="3" name="Tartalom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/>
          <a:p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Ádám felelt a csapatmunka összehangolásáért, az ütemterv kialakításáért, és technikai támogatást nyújtott mind frontend, mind </a:t>
            </a:r>
            <a:r>
              <a:rPr lang="hu-HU" sz="2800" dirty="0" err="1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backend</a:t>
            </a: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 oldalon.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8000" dirty="0">
                <a:latin typeface="Angsana New" panose="02020603050405020304" pitchFamily="18" charset="-34"/>
                <a:cs typeface="Angsana New" panose="02020603050405020304" pitchFamily="18" charset="-34"/>
              </a:rPr>
              <a:t>Régebbi design képek</a:t>
            </a:r>
          </a:p>
        </p:txBody>
      </p:sp>
      <p:pic>
        <p:nvPicPr>
          <p:cNvPr id="13317" name="Picture 5" descr="https://cdn.discordapp.com/attachments/738503843041771541/1366785174460960778/image.png?ex=68123563&amp;is=6810e3e3&amp;hm=5de13958a53fd423197fd0201ce80fe9bd004730efe622273d72c5463b22dc72&amp;=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9104" y="2222316"/>
            <a:ext cx="5272474" cy="3002198"/>
          </a:xfrm>
          <a:prstGeom prst="rect">
            <a:avLst/>
          </a:prstGeom>
          <a:noFill/>
        </p:spPr>
      </p:pic>
      <p:sp>
        <p:nvSpPr>
          <p:cNvPr id="7" name="Tartalom helye 6">
            <a:extLst>
              <a:ext uri="{FF2B5EF4-FFF2-40B4-BE49-F238E27FC236}">
                <a16:creationId xmlns:a16="http://schemas.microsoft.com/office/drawing/2014/main" id="{CC6EEE34-26CD-1B35-8C5E-A6DCC1B63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392" y="6583362"/>
            <a:ext cx="157808" cy="1587625"/>
          </a:xfrm>
        </p:spPr>
        <p:txBody>
          <a:bodyPr/>
          <a:lstStyle/>
          <a:p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606705C-6937-2272-1AA9-DC10C5847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1" y="2735193"/>
            <a:ext cx="1856638" cy="241947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D6777A4-6C5F-5DB0-0235-CB29972B5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362" y="2905882"/>
            <a:ext cx="1856638" cy="22487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620688"/>
            <a:ext cx="5486400" cy="566738"/>
          </a:xfrm>
        </p:spPr>
        <p:txBody>
          <a:bodyPr anchor="b">
            <a:normAutofit fontScale="90000"/>
          </a:bodyPr>
          <a:lstStyle/>
          <a:p>
            <a:r>
              <a:rPr lang="hu-HU" sz="80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HTML</a:t>
            </a:r>
            <a:r>
              <a:rPr lang="hu-HU" b="0" dirty="0"/>
              <a:t> </a:t>
            </a:r>
          </a:p>
        </p:txBody>
      </p:sp>
      <p:pic>
        <p:nvPicPr>
          <p:cNvPr id="19458" name="Picture 2" descr="https://cdn.discordapp.com/attachments/738503843041771541/1366336955796684901/image.png?ex=681093f3&amp;is=680f4273&amp;hm=c9e5771af02fc808be112b6dfdf677defc040f05b31ea8ff2600f02e6f5b34e1&amp;=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195736" y="399691"/>
            <a:ext cx="6239571" cy="4180511"/>
          </a:xfrm>
          <a:prstGeom prst="rect">
            <a:avLst/>
          </a:prstGeom>
          <a:noFill/>
        </p:spPr>
      </p:pic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1945445" y="4796247"/>
            <a:ext cx="6740152" cy="1662062"/>
          </a:xfrm>
        </p:spPr>
        <p:txBody>
          <a:bodyPr>
            <a:normAutofit/>
          </a:bodyPr>
          <a:lstStyle/>
          <a:p>
            <a:pPr algn="ctr"/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A HTML biztosította a weboldal szerkezeti alapját. Ezen keresztül alakítottuk ki az oldal logikai struktúráját.</a:t>
            </a:r>
          </a:p>
          <a:p>
            <a:pPr algn="ctr"/>
            <a:endParaRPr lang="hu-HU" sz="2800" dirty="0"/>
          </a:p>
          <a:p>
            <a:pPr algn="ctr"/>
            <a:endParaRPr lang="hu-HU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557096"/>
            <a:ext cx="5486400" cy="566738"/>
          </a:xfrm>
        </p:spPr>
        <p:txBody>
          <a:bodyPr anchor="b">
            <a:noAutofit/>
          </a:bodyPr>
          <a:lstStyle/>
          <a:p>
            <a:r>
              <a:rPr lang="hu-HU" sz="66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CSS és </a:t>
            </a:r>
            <a:r>
              <a:rPr lang="hu-HU" sz="6600" b="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Bootstrap</a:t>
            </a:r>
            <a:endParaRPr lang="hu-HU" sz="6600" b="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18434" name="Picture 2" descr="https://cdn.discordapp.com/attachments/738503843041771541/1366337238148976720/image.png?ex=68109436&amp;is=680f42b6&amp;hm=6c1df8c5e1ddfeff4b39c8d61946458552e63e69c4df92f126e6ec29dc971e86&amp;="/>
          <p:cNvPicPr>
            <a:picLocks noChangeAspect="1" noChangeArrowheads="1"/>
          </p:cNvPicPr>
          <p:nvPr/>
        </p:nvPicPr>
        <p:blipFill>
          <a:blip r:embed="rId3"/>
          <a:srcRect t="144" b="17212"/>
          <a:stretch/>
        </p:blipFill>
        <p:spPr bwMode="auto">
          <a:xfrm>
            <a:off x="2482887" y="1123834"/>
            <a:ext cx="6206480" cy="3612976"/>
          </a:xfrm>
          <a:prstGeom prst="rect">
            <a:avLst/>
          </a:prstGeom>
          <a:noFill/>
        </p:spPr>
      </p:pic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827584" y="4848168"/>
            <a:ext cx="7956376" cy="1490662"/>
          </a:xfrm>
        </p:spPr>
        <p:txBody>
          <a:bodyPr>
            <a:noAutofit/>
          </a:bodyPr>
          <a:lstStyle/>
          <a:p>
            <a:pPr algn="ctr"/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A stílusok és a </a:t>
            </a:r>
            <a:r>
              <a:rPr lang="hu-HU" sz="2800" dirty="0" err="1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reszponzív</a:t>
            </a: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 megjelenés érdekében </a:t>
            </a:r>
            <a:r>
              <a:rPr lang="hu-HU" sz="2800" dirty="0" err="1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CSS-t</a:t>
            </a: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 és </a:t>
            </a:r>
            <a:r>
              <a:rPr lang="hu-HU" sz="2800" dirty="0" err="1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Bootstrapet</a:t>
            </a: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 használtunk. Ez tette lehetővé a gyors fejlesztést és az </a:t>
            </a:r>
            <a:r>
              <a:rPr lang="hu-HU" sz="2800" dirty="0" err="1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eszközfüggetlen</a:t>
            </a: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 dizájnt.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64202" y="404664"/>
            <a:ext cx="5486400" cy="566738"/>
          </a:xfrm>
        </p:spPr>
        <p:txBody>
          <a:bodyPr anchor="b">
            <a:noAutofit/>
          </a:bodyPr>
          <a:lstStyle/>
          <a:p>
            <a:r>
              <a:rPr lang="hu-HU" sz="60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JavaScript</a:t>
            </a:r>
          </a:p>
        </p:txBody>
      </p:sp>
      <p:pic>
        <p:nvPicPr>
          <p:cNvPr id="17410" name="Picture 2" descr="https://cdn.discordapp.com/attachments/738503843041771541/1366337740467208262/image.png?ex=681094ae&amp;is=680f432e&amp;hm=2812e3202a3edcdfac3667dca6978d4e45ce2cc4f10a2fd51fd54d646e4383e8&amp;=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32037" y="836712"/>
            <a:ext cx="5486400" cy="3634739"/>
          </a:xfrm>
          <a:prstGeom prst="rect">
            <a:avLst/>
          </a:prstGeom>
          <a:noFill/>
        </p:spPr>
      </p:pic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629816" y="4787826"/>
            <a:ext cx="7884368" cy="804862"/>
          </a:xfrm>
        </p:spPr>
        <p:txBody>
          <a:bodyPr>
            <a:noAutofit/>
          </a:bodyPr>
          <a:lstStyle/>
          <a:p>
            <a:pPr algn="ctr"/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A JavaScript felelt az oldal interaktív működéséért. Például a foglalási folyamat, a kártyák mozgatása és az események dinamikus kezelése is ezen keresztül történt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7200" dirty="0">
                <a:latin typeface="Angsana New" panose="02020603050405020304" pitchFamily="18" charset="-34"/>
                <a:cs typeface="Angsana New" panose="02020603050405020304" pitchFamily="18" charset="-34"/>
              </a:rPr>
              <a:t>PHP és MVC struktúra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A </a:t>
            </a:r>
            <a:r>
              <a:rPr lang="hu-HU" sz="2800" dirty="0" err="1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backend</a:t>
            </a: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 logikát PHP nyelven készítettük el, a kódot pedig MVC struktúrába szerveztük, így könnyebbé vált a karbantartás és a további fejlesztés</a:t>
            </a:r>
          </a:p>
        </p:txBody>
      </p:sp>
      <p:pic>
        <p:nvPicPr>
          <p:cNvPr id="16386" name="Picture 2" descr="https://cdn.discordapp.com/attachments/738503843041771541/1366327553450836028/image.png?ex=68108b31&amp;is=680f39b1&amp;hm=9d7d816866c7d3ef39789ae18bcab020d3840ff7c05dc31c1ef490baa0a64978&amp;=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3174" y="3317082"/>
            <a:ext cx="4784634" cy="3266279"/>
          </a:xfrm>
          <a:prstGeom prst="rect">
            <a:avLst/>
          </a:prstGeom>
          <a:noFill/>
        </p:spPr>
      </p:pic>
      <p:pic>
        <p:nvPicPr>
          <p:cNvPr id="16388" name="Picture 4" descr="https://cdn.discordapp.com/attachments/738503843041771541/1366327090495885393/image.png?ex=68108ac3&amp;is=680f3943&amp;hm=22eb96732df419ecbaedeabebccae5252d264725c3a28a8bbb1f4249dffe8501&amp;=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92280" y="3317083"/>
            <a:ext cx="1276842" cy="326627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-1763149" y="188700"/>
            <a:ext cx="8229600" cy="1143000"/>
          </a:xfrm>
        </p:spPr>
        <p:txBody>
          <a:bodyPr>
            <a:noAutofit/>
          </a:bodyPr>
          <a:lstStyle/>
          <a:p>
            <a:r>
              <a:rPr lang="hu-HU" sz="7200" dirty="0">
                <a:latin typeface="Angsana New" panose="02020603050405020304" pitchFamily="18" charset="-34"/>
                <a:cs typeface="Angsana New" panose="02020603050405020304" pitchFamily="18" charset="-34"/>
              </a:rPr>
              <a:t>Login/</a:t>
            </a:r>
            <a:r>
              <a:rPr lang="hu-HU" sz="72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register</a:t>
            </a:r>
            <a:endParaRPr lang="hu-HU" sz="7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/>
          <a:srcRect l="19346" t="13274" r="13693" b="20600"/>
          <a:stretch/>
        </p:blipFill>
        <p:spPr bwMode="auto">
          <a:xfrm>
            <a:off x="441951" y="2074540"/>
            <a:ext cx="2678821" cy="2708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/>
          <a:srcRect l="8017" t="3033" r="8617" b="3950"/>
          <a:stretch/>
        </p:blipFill>
        <p:spPr bwMode="auto">
          <a:xfrm>
            <a:off x="5992589" y="2074540"/>
            <a:ext cx="2671990" cy="3417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5486400" cy="566738"/>
          </a:xfrm>
        </p:spPr>
        <p:txBody>
          <a:bodyPr anchor="b">
            <a:noAutofit/>
          </a:bodyPr>
          <a:lstStyle/>
          <a:p>
            <a:r>
              <a:rPr lang="hu-HU" sz="4800" b="0" dirty="0">
                <a:latin typeface="Sabon Next LT" panose="02000500000000000000" pitchFamily="2" charset="0"/>
                <a:cs typeface="Sabon Next LT" panose="02000500000000000000" pitchFamily="2" charset="0"/>
              </a:rPr>
              <a:t>Főoldal</a:t>
            </a:r>
          </a:p>
        </p:txBody>
      </p:sp>
      <p:pic>
        <p:nvPicPr>
          <p:cNvPr id="7170" name="Picture 2" descr="https://cdn.discordapp.com/attachments/886347080069697599/1366782944693190816/fooldal.PNG?ex=6812334f&amp;is=6810e1cf&amp;hm=c10f1a58be4e45d962a513484cfa27f24f29818c45246af97ff0bc02eeda19a8&amp;=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83568" y="2304286"/>
            <a:ext cx="7488379" cy="3762909"/>
          </a:xfrm>
          <a:prstGeom prst="rect">
            <a:avLst/>
          </a:prstGeom>
          <a:noFill/>
        </p:spPr>
      </p:pic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1043608" y="980728"/>
            <a:ext cx="5486400" cy="80486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Designos </a:t>
            </a:r>
            <a:r>
              <a:rPr lang="hu-HU" sz="2800" dirty="0" err="1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slideshow</a:t>
            </a:r>
            <a:endParaRPr lang="hu-HU" sz="2800" dirty="0">
              <a:solidFill>
                <a:schemeClr val="accent5">
                  <a:lumMod val="50000"/>
                </a:schemeClr>
              </a:solidFill>
              <a:latin typeface="Arial Nova Light" panose="020B03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Kevés információ rólunk</a:t>
            </a:r>
          </a:p>
          <a:p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512" y="5083969"/>
            <a:ext cx="5486400" cy="566738"/>
          </a:xfrm>
        </p:spPr>
        <p:txBody>
          <a:bodyPr anchor="b">
            <a:noAutofit/>
          </a:bodyPr>
          <a:lstStyle/>
          <a:p>
            <a:r>
              <a:rPr lang="hu-HU" sz="66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Termékek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63588" y="1075564"/>
            <a:ext cx="7416824" cy="370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611560" y="5517232"/>
            <a:ext cx="8676964" cy="120729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Öltönyök és az áruk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Itt lehet lefoglalni az öltönyt egy naptár rendszerben</a:t>
            </a:r>
          </a:p>
          <a:p>
            <a:endParaRPr lang="hu-HU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512" y="4653136"/>
            <a:ext cx="5486400" cy="566738"/>
          </a:xfrm>
        </p:spPr>
        <p:txBody>
          <a:bodyPr anchor="b">
            <a:noAutofit/>
          </a:bodyPr>
          <a:lstStyle/>
          <a:p>
            <a:r>
              <a:rPr lang="hu-HU" sz="66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Rólunk</a:t>
            </a: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95873" y="711651"/>
            <a:ext cx="7152254" cy="3558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841884" y="5341487"/>
            <a:ext cx="7460232" cy="8048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Részletes leírás rólunk és hogy mit csinálunk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Kapcsolatokhoz hozzáférés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3528" y="4386838"/>
            <a:ext cx="5486400" cy="566738"/>
          </a:xfrm>
        </p:spPr>
        <p:txBody>
          <a:bodyPr anchor="b">
            <a:noAutofit/>
          </a:bodyPr>
          <a:lstStyle/>
          <a:p>
            <a:r>
              <a:rPr lang="hu-HU" sz="66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Foglalásaim</a:t>
            </a: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43000" y="439319"/>
            <a:ext cx="7258000" cy="3556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683568" y="4942245"/>
            <a:ext cx="8856984" cy="8048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Itt összegzi a weboldal a saját öltönyfoglalásainkat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chemeClr val="accent5">
                    <a:lumMod val="50000"/>
                  </a:schemeClr>
                </a:solidFill>
                <a:latin typeface="Arial Nova Light" panose="020B0304020202020204" pitchFamily="34" charset="0"/>
              </a:rPr>
              <a:t>Lehetőség van törölni a foglalást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4809728"/>
            <a:ext cx="5486400" cy="566738"/>
          </a:xfrm>
        </p:spPr>
        <p:txBody>
          <a:bodyPr anchor="b">
            <a:noAutofit/>
          </a:bodyPr>
          <a:lstStyle/>
          <a:p>
            <a:r>
              <a:rPr lang="hu-HU" sz="66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Profil módosítás</a:t>
            </a: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6251" y="404664"/>
            <a:ext cx="8111498" cy="3954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971600" y="5376466"/>
            <a:ext cx="6912768" cy="804862"/>
          </a:xfrm>
        </p:spPr>
        <p:txBody>
          <a:bodyPr>
            <a:noAutofit/>
          </a:bodyPr>
          <a:lstStyle/>
          <a:p>
            <a:pPr algn="ctr"/>
            <a:r>
              <a:rPr lang="hu-HU" sz="2600" dirty="0">
                <a:latin typeface="Arial Nova Light" panose="020B0304020202020204" pitchFamily="34" charset="0"/>
              </a:rPr>
              <a:t>Felhasználónevet illetve jelszót lehet módosítani és menti adatbázisba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199" y="0"/>
            <a:ext cx="8229600" cy="1143000"/>
          </a:xfrm>
        </p:spPr>
        <p:txBody>
          <a:bodyPr anchor="ctr">
            <a:noAutofit/>
          </a:bodyPr>
          <a:lstStyle/>
          <a:p>
            <a:r>
              <a:rPr lang="hu-HU" sz="7200" dirty="0">
                <a:latin typeface="Angsana New" panose="02020603050405020304" pitchFamily="18" charset="-34"/>
                <a:cs typeface="Angsana New" panose="02020603050405020304" pitchFamily="18" charset="-34"/>
              </a:rPr>
              <a:t>Adatbázis</a:t>
            </a: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 l="1075" t="-608" r="686" b="3702"/>
          <a:stretch/>
        </p:blipFill>
        <p:spPr bwMode="auto">
          <a:xfrm>
            <a:off x="666573" y="1143000"/>
            <a:ext cx="7810851" cy="539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402431"/>
            <a:ext cx="5486400" cy="566738"/>
          </a:xfrm>
        </p:spPr>
        <p:txBody>
          <a:bodyPr anchor="b">
            <a:noAutofit/>
          </a:bodyPr>
          <a:lstStyle/>
          <a:p>
            <a:r>
              <a:rPr lang="hu-HU" sz="6600" b="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Admin</a:t>
            </a:r>
            <a:r>
              <a:rPr lang="hu-HU" sz="66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hu-HU" sz="6600" b="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interface</a:t>
            </a:r>
            <a:endParaRPr lang="hu-HU" sz="6600" b="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60563" y="1452691"/>
            <a:ext cx="7822873" cy="3891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30" name="Text Placeholder 3">
            <a:extLst>
              <a:ext uri="{FF2B5EF4-FFF2-40B4-BE49-F238E27FC236}">
                <a16:creationId xmlns:a16="http://schemas.microsoft.com/office/drawing/2014/main" id="{86AA216F-C4BB-025E-F261-2F30FAF47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F19431-3157-103C-9824-B84AAD2F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28" y="2780928"/>
            <a:ext cx="9011344" cy="1867644"/>
          </a:xfrm>
        </p:spPr>
        <p:txBody>
          <a:bodyPr>
            <a:normAutofit/>
          </a:bodyPr>
          <a:lstStyle/>
          <a:p>
            <a:r>
              <a:rPr lang="hu-HU" sz="6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Köszönjük a figyelmet!</a:t>
            </a:r>
            <a:endParaRPr lang="en-US" sz="6600" b="1" dirty="0">
              <a:solidFill>
                <a:schemeClr val="accent2">
                  <a:lumMod val="20000"/>
                  <a:lumOff val="80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97122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-téma">
  <a:themeElements>
    <a:clrScheme name="Szürkeárnyalato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341</Words>
  <Application>Microsoft Office PowerPoint</Application>
  <PresentationFormat>Diavetítés a képernyőre (4:3 oldalarány)</PresentationFormat>
  <Paragraphs>44</Paragraphs>
  <Slides>21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8" baseType="lpstr">
      <vt:lpstr>Angsana New</vt:lpstr>
      <vt:lpstr>Arial</vt:lpstr>
      <vt:lpstr>Arial Nova Light</vt:lpstr>
      <vt:lpstr>Avenir Next LT Pro</vt:lpstr>
      <vt:lpstr>Calibri</vt:lpstr>
      <vt:lpstr>Sabon Next LT</vt:lpstr>
      <vt:lpstr>Office-téma</vt:lpstr>
      <vt:lpstr>Öltönykölcsönzés:</vt:lpstr>
      <vt:lpstr>Bevezetés</vt:lpstr>
      <vt:lpstr>Cél</vt:lpstr>
      <vt:lpstr>Megvalósítás</vt:lpstr>
      <vt:lpstr>Kovács Álmos – Backend fejlesztő</vt:lpstr>
      <vt:lpstr>Burgstaller György – Frontend fejlesztő </vt:lpstr>
      <vt:lpstr>Csimszi Ádám – Projektmenedzser és Fullstack fejlesztő </vt:lpstr>
      <vt:lpstr>Régebbi design képek</vt:lpstr>
      <vt:lpstr>HTML </vt:lpstr>
      <vt:lpstr>CSS és Bootstrap</vt:lpstr>
      <vt:lpstr>JavaScript</vt:lpstr>
      <vt:lpstr>PHP és MVC struktúra</vt:lpstr>
      <vt:lpstr>Login/register</vt:lpstr>
      <vt:lpstr>Főoldal</vt:lpstr>
      <vt:lpstr>Termékek</vt:lpstr>
      <vt:lpstr>Rólunk</vt:lpstr>
      <vt:lpstr>Foglalásaim</vt:lpstr>
      <vt:lpstr>Profil módosítás</vt:lpstr>
      <vt:lpstr>Adatbázis</vt:lpstr>
      <vt:lpstr>Admin interface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dia</dc:title>
  <dc:creator>Ádám</dc:creator>
  <cp:lastModifiedBy>O365 felhasználó</cp:lastModifiedBy>
  <cp:revision>12</cp:revision>
  <dcterms:created xsi:type="dcterms:W3CDTF">2025-04-28T07:38:43Z</dcterms:created>
  <dcterms:modified xsi:type="dcterms:W3CDTF">2025-04-29T17:16:50Z</dcterms:modified>
</cp:coreProperties>
</file>